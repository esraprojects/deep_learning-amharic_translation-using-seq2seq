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4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1F24"/>
                </a:solidFill>
                <a:latin typeface="Arial"/>
              </a:rPr>
              <a:t>Cleaning funnel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pairs</c:v>
                </c:pt>
              </c:strCache>
            </c:strRef>
          </c:tx>
          <c:spPr>
            <a:solidFill>
              <a:srgbClr val="1F5C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Raw</c:v>
                  </c:pt>
                  <c:pt idx="1">
                    <c:v>No empty / dup.</c:v>
                  </c:pt>
                  <c:pt idx="2">
                    <c:v>Script filter</c:v>
                  </c:pt>
                  <c:pt idx="3">
                    <c:v>Length / ratio</c:v>
                  </c:pt>
                  <c:pt idx="4">
                    <c:v>De-dup. sources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906388</c:v>
                </c:pt>
                <c:pt idx="1">
                  <c:v>884756</c:v>
                </c:pt>
                <c:pt idx="2">
                  <c:v>878906</c:v>
                </c:pt>
                <c:pt idx="3">
                  <c:v>583019</c:v>
                </c:pt>
                <c:pt idx="4">
                  <c:v>525095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Seq2Seq + LSTM</c:v>
                </c:pt>
              </c:strCache>
            </c:strRef>
          </c:tx>
          <c:spPr>
            <a:solidFill>
              <a:srgbClr val="9AA3A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BLEU</c:v>
                  </c:pt>
                  <c:pt idx="1">
                    <c:v>chrF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5.26</c:v>
                </c:pt>
                <c:pt idx="1">
                  <c:v>13.68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Attention-LSTM</c:v>
                </c:pt>
              </c:strCache>
            </c:strRef>
          </c:tx>
          <c:spPr>
            <a:solidFill>
              <a:srgbClr val="1F5C4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BLEU</c:v>
                  </c:pt>
                  <c:pt idx="1">
                    <c:v>chrF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11.35</c:v>
                </c:pt>
                <c:pt idx="1">
                  <c:v>23.13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1F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4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1F24"/>
                </a:solidFill>
                <a:latin typeface="Arial"/>
              </a:rPr>
              <a:t>BLEU by source length (long-sentence errors)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Seq2Seq + LSTM</c:v>
                </c:pt>
              </c:strCache>
            </c:strRef>
          </c:tx>
          <c:spPr>
            <a:solidFill>
              <a:srgbClr val="9AA3A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1-10 words</c:v>
                  </c:pt>
                  <c:pt idx="1">
                    <c:v>11-15 words</c:v>
                  </c:pt>
                  <c:pt idx="2">
                    <c:v>16-20 words</c:v>
                  </c:pt>
                  <c:pt idx="3">
                    <c:v>21-25 words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12.26</c:v>
                </c:pt>
                <c:pt idx="1">
                  <c:v>5.79</c:v>
                </c:pt>
                <c:pt idx="2">
                  <c:v>4.4</c:v>
                </c:pt>
                <c:pt idx="3">
                  <c:v>3.26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Attention-LSTM</c:v>
                </c:pt>
              </c:strCache>
            </c:strRef>
          </c:tx>
          <c:spPr>
            <a:solidFill>
              <a:srgbClr val="1F5C4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1-10 words</c:v>
                  </c:pt>
                  <c:pt idx="1">
                    <c:v>11-15 words</c:v>
                  </c:pt>
                  <c:pt idx="2">
                    <c:v>16-20 words</c:v>
                  </c:pt>
                  <c:pt idx="3">
                    <c:v>21-25 words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19.2</c:v>
                </c:pt>
                <c:pt idx="1">
                  <c:v>11.79</c:v>
                </c:pt>
                <c:pt idx="2">
                  <c:v>10.14</c:v>
                </c:pt>
                <c:pt idx="3">
                  <c:v>9.58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goal: build, compare and deploy two LSTM translation models for English to Amharic.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pipeline is reproducible with one script: scripts/run_pipeline.sh.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MT560 is the main corpus (documented license); habtew was added to cover everyday language. 88k habtew pairs remain after de-duplication.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Attention adds only 196k parameters (+2.5%).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was resumable, with checkpoints every 250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 → Amharic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CEE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Machine Translation with Seq2Seq-LSTM and Attention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0A526"/>
                </a:solidFill>
                <a:latin typeface="Nyala" pitchFamily="34" charset="0"/>
                <a:ea typeface="Nyala" pitchFamily="34" charset="-122"/>
                <a:cs typeface="Nyala" pitchFamily="34" charset="-120"/>
              </a:rPr>
              <a:t>ወደ ዩኒቨርሲቲ እሄዳለሁ።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069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Course Project  ·  Instructor: Fantahun Bogale Gereme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526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Bethel Negusu</a:t>
            </a:r>
            <a:pPr indent="0" marL="0">
              <a:buNone/>
            </a:pPr>
            <a:r>
              <a:rPr lang="en-US" sz="1500" dirty="0">
                <a:solidFill>
                  <a:srgbClr val="DC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GSR/8221/18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4526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Esrom Adugna</a:t>
            </a:r>
            <a:pPr indent="0" marL="0">
              <a:buNone/>
            </a:pPr>
            <a:r>
              <a:rPr lang="en-US" sz="1500" dirty="0">
                <a:solidFill>
                  <a:srgbClr val="DC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GSR/4064/18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937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Selamawit Siferh</a:t>
            </a:r>
            <a:pPr indent="0" marL="0">
              <a:buNone/>
            </a:pPr>
            <a:r>
              <a:rPr lang="en-US" sz="1500" dirty="0">
                <a:solidFill>
                  <a:srgbClr val="DC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GSR/6879/18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4937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Aklilu Solomon</a:t>
            </a:r>
            <a:pPr indent="0" marL="0">
              <a:buNone/>
            </a:pPr>
            <a:r>
              <a:rPr lang="en-US" sz="1500" dirty="0">
                <a:solidFill>
                  <a:srgbClr val="DC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GSE/0756/18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esraprojects.github.io/deep_learning-amharic_translation-using-seq2seq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and workflow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Develop, evaluate, compare and deploy an English→Amharic translator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1F5C4A"/>
          </a:solidFill>
          <a:ln w="12700">
            <a:solidFill>
              <a:srgbClr val="1F5C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MT560 + habtew, cleaning, normalization, split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103120"/>
            <a:ext cx="548640" cy="548640"/>
          </a:xfrm>
          <a:prstGeom prst="ellipse">
            <a:avLst/>
          </a:prstGeom>
          <a:solidFill>
            <a:srgbClr val="1F5C4A"/>
          </a:solidFill>
          <a:ln w="12700">
            <a:solidFill>
              <a:srgbClr val="1F5C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Tokenize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SentencePiece subwords, 8k per language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103120"/>
            <a:ext cx="548640" cy="548640"/>
          </a:xfrm>
          <a:prstGeom prst="ellipse">
            <a:avLst/>
          </a:prstGeom>
          <a:solidFill>
            <a:srgbClr val="1F5C4A"/>
          </a:solidFill>
          <a:ln w="12700">
            <a:solidFill>
              <a:srgbClr val="1F5C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Seq2Seq-LSTM and Attention-LSTM, same budget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343400"/>
            <a:ext cx="548640" cy="548640"/>
          </a:xfrm>
          <a:prstGeom prst="ellipse">
            <a:avLst/>
          </a:prstGeom>
          <a:solidFill>
            <a:srgbClr val="1F5C4A"/>
          </a:solidFill>
          <a:ln w="12700">
            <a:solidFill>
              <a:srgbClr val="1F5C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74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BLEU, chrF, loss, time, parameters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297680" y="406908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343400"/>
            <a:ext cx="548640" cy="548640"/>
          </a:xfrm>
          <a:prstGeom prst="ellipse">
            <a:avLst/>
          </a:prstGeom>
          <a:solidFill>
            <a:srgbClr val="1F5C4A"/>
          </a:solidFill>
          <a:ln w="12700">
            <a:solidFill>
              <a:srgbClr val="1F5C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074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categories and attention maps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046720" y="406908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4343400"/>
            <a:ext cx="548640" cy="548640"/>
          </a:xfrm>
          <a:prstGeom prst="ellipse">
            <a:avLst/>
          </a:prstGeom>
          <a:solidFill>
            <a:srgbClr val="1F5C4A"/>
          </a:solidFill>
          <a:ln w="12700">
            <a:solidFill>
              <a:srgbClr val="1F5C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5074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Gradio, live browser demo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MT560 + habtew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HF: michsethowusu/english-amharic_sentence-pairs_mt560 (CC-BY-4.0)  ·  habtew/english-amharic-translation (no license stated)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906,388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sentence pairs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517,095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23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pairs after cleaning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663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3k / 5k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486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/ test pairs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657600" y="1645920"/>
          <a:ext cx="45720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8503920" y="1737360"/>
            <a:ext cx="3200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MT560: religious (Bible, Qur'an, Watchtower); habtew adds news and everyday sentences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Amharic has 3× more word types than English (rich morphology)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 word order in Amharic vs SVO in English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misaligned, duplicate and wrong-script pairs; homophone normalization (ሐ/ኀ/ሃ→ሀ, ሠ→ሰ, ዐ→አ, ፀ→ጸ)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models, same encoder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difference is the attention mechanism, so the comparison is fair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Seq2Seq + LSTM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7,995,200 parameters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BiLSTM encoder (2×128)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encoder state initializes a 2-layer LSTM decoder (256)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sentence squeezed into one fixed vector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Sutskever et al., 2014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DCEEE7"/>
          </a:solidFill>
          <a:ln w="12700">
            <a:solidFill>
              <a:srgbClr val="DCEE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920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Seq2Seq + LSTM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468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8,191,808 parameters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306324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encoder and decoder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Luong global attention: score = hₜᵀ Wₐ h̄ₛ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cₜ = Σ aₜₛ h̄ₛ;  h̃ₜ = tanh(W꜀[hₜ; cₜ])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back at every source word at each step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for both models; 4-core CPU, no GPU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486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Hyper-parameter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5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5C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size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units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(encoder 2×128 bidirectional)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encoder + 2 decoder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(length-bucketed)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1e-3, halved on validation plateau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Adam, gradient clip 1.0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(7-hour budget per model)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Cross-entropy, label smoothing 0.1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Vocabulary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SentencePiece unigram, 8k EN + 8k 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/home/user/deep_learning-amharic_translation-using-seq2seq/results/figures/training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377440"/>
            <a:ext cx="5394960" cy="14386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309360" y="46634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the models opens in epoch 1 and keeps growing; both were still slowly improving.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attention wins clearly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set, 5,000 sentences, beam search (k=5)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11.35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with attention (baseline 5.26)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23.13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chrF with attention (baseline 13.68)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663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3.19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486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loss with attention (baseline 3.69)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383280" y="1645920"/>
          <a:ext cx="4023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828800"/>
          <a:ext cx="4206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25880"/>
                <a:gridCol w="1325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Seq2Seq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7,995,200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8,191,808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420.2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420.2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perplexity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Beam / greedy BLEU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5.26 / 4.91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11.35 / 10.36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/ sentence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35.6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set, beam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174.8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185.5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7680960" y="54406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+6.1 BLEU for +2.5% parameters. Beam search adds +1.0 BLEU over greedy decoding.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Translation examples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Seq2Seq → Attention-LSTM (beam search); full table with references in results/examples.md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657600"/>
                <a:gridCol w="36576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(EN)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5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Seq2Seq + 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5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Attention-LSTM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5C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children are playing in the garden.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Nyala" pitchFamily="34" charset="0"/>
                          <a:ea typeface="Nyala" pitchFamily="34" charset="-122"/>
                          <a:cs typeface="Nyala" pitchFamily="34" charset="-120"/>
                        </a:rPr>
                        <a:t>ልጆቹ ቤት ውስጥ እየተጫወቱ ነው።</a:t>
                      </a:r>
                      <a:endParaRPr lang="en-US" sz="1500" dirty="0">
                        <a:latin typeface="Nyala" charset="0"/>
                        <a:ea typeface="Nyala" charset="0"/>
                        <a:cs typeface="Nyal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Nyala" pitchFamily="34" charset="0"/>
                          <a:ea typeface="Nyala" pitchFamily="34" charset="-122"/>
                          <a:cs typeface="Nyala" pitchFamily="34" charset="-120"/>
                        </a:rPr>
                        <a:t>ልጆቹ በአትክልት ቦታው ውስጥ እየተጫወቱ ነው።</a:t>
                      </a:r>
                      <a:endParaRPr lang="en-US" sz="1500" dirty="0">
                        <a:latin typeface="Nyala" charset="0"/>
                        <a:ea typeface="Nyala" charset="0"/>
                        <a:cs typeface="Nyal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mother is cooking dinner for the family.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Nyala" pitchFamily="34" charset="0"/>
                          <a:ea typeface="Nyala" pitchFamily="34" charset="-122"/>
                          <a:cs typeface="Nyala" pitchFamily="34" charset="-120"/>
                        </a:rPr>
                        <a:t>እናቴ ቤት ውስጥ እየገባች ነው።</a:t>
                      </a:r>
                      <a:endParaRPr lang="en-US" sz="1500" dirty="0">
                        <a:latin typeface="Nyala" charset="0"/>
                        <a:ea typeface="Nyala" charset="0"/>
                        <a:cs typeface="Nyal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Nyala" pitchFamily="34" charset="0"/>
                          <a:ea typeface="Nyala" pitchFamily="34" charset="-122"/>
                          <a:cs typeface="Nyala" pitchFamily="34" charset="-120"/>
                        </a:rPr>
                        <a:t>እናቴ ለቤተሰቧ እራት እያበሰለች ነው።</a:t>
                      </a:r>
                      <a:endParaRPr lang="en-US" sz="1500" dirty="0">
                        <a:latin typeface="Nyala" charset="0"/>
                        <a:ea typeface="Nyala" charset="0"/>
                        <a:cs typeface="Nyal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going to the university.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Nyala" pitchFamily="34" charset="0"/>
                          <a:ea typeface="Nyala" pitchFamily="34" charset="-122"/>
                          <a:cs typeface="Nyala" pitchFamily="34" charset="-120"/>
                        </a:rPr>
                        <a:t>እኔ ወደ ቤት ሄድኩ።</a:t>
                      </a:r>
                      <a:endParaRPr lang="en-US" sz="1500" dirty="0">
                        <a:latin typeface="Nyala" charset="0"/>
                        <a:ea typeface="Nyala" charset="0"/>
                        <a:cs typeface="Nyal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Nyala" pitchFamily="34" charset="0"/>
                          <a:ea typeface="Nyala" pitchFamily="34" charset="-122"/>
                          <a:cs typeface="Nyala" pitchFamily="34" charset="-120"/>
                        </a:rPr>
                        <a:t>እኔ ወደ ዩኒቨርሲቲ ሄድኩ።</a:t>
                      </a:r>
                      <a:endParaRPr lang="en-US" sz="1500" dirty="0">
                        <a:latin typeface="Nyala" charset="0"/>
                        <a:ea typeface="Nyala" charset="0"/>
                        <a:cs typeface="Nyal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Jesus taught his disciples to love one another.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Nyala" pitchFamily="34" charset="0"/>
                          <a:ea typeface="Nyala" pitchFamily="34" charset="-122"/>
                          <a:cs typeface="Nyala" pitchFamily="34" charset="-120"/>
                        </a:rPr>
                        <a:t>ኢየሱስ ደቀ መዛሙርቱን ለሌሎች ፍቅር አሳይቷል።</a:t>
                      </a:r>
                      <a:endParaRPr lang="en-US" sz="1500" dirty="0">
                        <a:latin typeface="Nyala" charset="0"/>
                        <a:ea typeface="Nyala" charset="0"/>
                        <a:cs typeface="Nyal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Nyala" pitchFamily="34" charset="0"/>
                          <a:ea typeface="Nyala" pitchFamily="34" charset="-122"/>
                          <a:cs typeface="Nyala" pitchFamily="34" charset="-120"/>
                        </a:rPr>
                        <a:t>ኢየሱስ ደቀ መዛሙርቱ እርስ በርስ እንዲወደዱ አስተምሯቸዋል።</a:t>
                      </a:r>
                      <a:endParaRPr lang="en-US" sz="1500" dirty="0">
                        <a:latin typeface="Nyala" charset="0"/>
                        <a:ea typeface="Nyala" charset="0"/>
                        <a:cs typeface="Nyal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must read the Bible every day.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Nyala" pitchFamily="34" charset="0"/>
                          <a:ea typeface="Nyala" pitchFamily="34" charset="-122"/>
                          <a:cs typeface="Nyala" pitchFamily="34" charset="-120"/>
                        </a:rPr>
                        <a:t>መጽሀፍ ቅዱስ በየእለቱ መጽሀፍ ቅዱስን ማጥናት ይኖርብናል።</a:t>
                      </a:r>
                      <a:endParaRPr lang="en-US" sz="1500" dirty="0">
                        <a:latin typeface="Nyala" charset="0"/>
                        <a:ea typeface="Nyala" charset="0"/>
                        <a:cs typeface="Nyal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4"/>
                          </a:solidFill>
                          <a:latin typeface="Nyala" pitchFamily="34" charset="0"/>
                          <a:ea typeface="Nyala" pitchFamily="34" charset="-122"/>
                          <a:cs typeface="Nyala" pitchFamily="34" charset="-120"/>
                        </a:rPr>
                        <a:t>በየእለቱ መጽሀፍ ቅዱስን ማንበብ ይኖርብናል።</a:t>
                      </a:r>
                      <a:endParaRPr lang="en-US" sz="1500" dirty="0">
                        <a:latin typeface="Nyala" charset="0"/>
                        <a:ea typeface="Nyala" charset="0"/>
                        <a:cs typeface="Nyal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habtew data and fine-tuning on 761 curated pairs fixed everyday sentences like these; uncovered vocabulary (e.g. “weather”) is still hard.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analysis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indicators on the test set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737360"/>
          <a:ext cx="56692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097280"/>
                <a:gridCol w="10972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Seq2Seq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words (output too short)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35.34%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words (output too long)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words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Word-order agreement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Morphology (right stem, wrong affix)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entities correct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82.54%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90.81%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 copied correctly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BLEU, sentences with rare words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035040" y="55778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fixes under-translation, long sentences, names and numbers. Its main weakness is repetition (no coverage mechanism).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attention model looks at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= generated Amharic subwords, columns = English source subwords</a:t>
            </a:r>
            <a:endParaRPr lang="en-US" sz="1600" dirty="0"/>
          </a:p>
        </p:txBody>
      </p:sp>
      <p:pic>
        <p:nvPicPr>
          <p:cNvPr id="4" name="Image 0" descr="/home/user/deep_learning-amharic_translation-using-seq2seq/results/figures/attention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4572000" cy="4670885"/>
          </a:xfrm>
          <a:prstGeom prst="rect">
            <a:avLst/>
          </a:prstGeom>
        </p:spPr>
      </p:pic>
      <p:pic>
        <p:nvPicPr>
          <p:cNvPr id="5" name="Image 1" descr="/home/user/deep_learning-amharic_translation-using-seq2seq/results/figures/attention_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737360"/>
            <a:ext cx="3291840" cy="27356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869680" y="1737360"/>
            <a:ext cx="29260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SOV reordering: the final verb አስተምሯቸዋል attends back to “taught”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must read the Bible every day” → Amharic order: every day, Bible, read, must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 “we” becomes the verb suffix -ናል, so it has no attention row of its own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am going to the university” → እኔ ወደ ዩኒቨርሲቲ ሄድኩ: ዩኒቨርሲቲ attends to “university”, the suffix -ኩ to “I”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preprocess → encoder → attention decoder → Amharic output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(FastAPI)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/translate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{"text": "I am going to the university."}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{"translation": "…"}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965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UI (Gradio)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5146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side by side, example sentences, live attention heatmap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251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8006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models, tokenizers, dependencies and inference pipeline in one image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40233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DCEEE7"/>
          </a:solidFill>
          <a:ln w="12700">
            <a:solidFill>
              <a:srgbClr val="DCEE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4251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browser demo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8006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Web on GitHub Pages; the model runs on the visitor's device, free and always online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esraprojects.github.io/deep_learning-amharic_translation-using-seq2seq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2.2×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of the attention model vs the baseline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1645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+2.5%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2468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parameters for attention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645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97.95%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2468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copied correctly (baseline 70.94%)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training for more epochs · coverage / input feeding against repetition · more general-domain data · Transformer baseline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·  esraprojects.github.io/deep_learning-amharic_translation-using-seq2seq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→ Amharic NMT: Seq2Seq-LSTM vs Attention-LSTM</dc:title>
  <dc:subject>PptxGenJS Presentation</dc:subject>
  <dc:creator>PptxGenJS</dc:creator>
  <cp:lastModifiedBy>PptxGenJS</cp:lastModifiedBy>
  <cp:revision>1</cp:revision>
  <dcterms:created xsi:type="dcterms:W3CDTF">2026-10-01T16:37:28Z</dcterms:created>
  <dcterms:modified xsi:type="dcterms:W3CDTF">2026-10-01T16:37:28Z</dcterms:modified>
</cp:coreProperties>
</file>